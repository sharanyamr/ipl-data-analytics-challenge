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3092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62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4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0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4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8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87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32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8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28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9375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33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81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1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76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1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Wooble challenge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C1B1A"/>
                </a:solidFill>
                <a:latin typeface="Fraunces"/>
              </a:defRPr>
            </a:pPr>
            <a:r>
              <a:t>IPL Crunch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45453"/>
                </a:solidFill>
                <a:latin typeface="Work Sans"/>
              </a:defRPr>
            </a:pPr>
            <a:r>
              <a:t>A data-first analysis of toss impact, match phases, all-time performers, and one finding that challenges fan intuition.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Julius analysis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Question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B1A"/>
                </a:solidFill>
                <a:latin typeface="Fraunces"/>
              </a:defRPr>
            </a:pPr>
            <a:r>
              <a:t>Does winning the toss actually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1B1A"/>
                </a:solidFill>
                <a:latin typeface="Work Sans"/>
              </a:defRPr>
            </a:pPr>
            <a:r>
              <a:t>•  Toss winners also won the match in 51.62 percent of completed games.</a:t>
            </a:r>
          </a:p>
          <a:p>
            <a:pPr>
              <a:spcAft>
                <a:spcPts val="600"/>
              </a:spcAft>
              <a:defRPr sz="1400">
                <a:solidFill>
                  <a:srgbClr val="1C1B1A"/>
                </a:solidFill>
                <a:latin typeface="Work Sans"/>
              </a:defRPr>
            </a:pPr>
            <a:r>
              <a:t>•  That is only a marginal edge, not a dominant predictor.</a:t>
            </a:r>
          </a:p>
          <a:p>
            <a:pPr>
              <a:spcAft>
                <a:spcPts val="600"/>
              </a:spcAft>
              <a:defRPr sz="1400">
                <a:solidFill>
                  <a:srgbClr val="1C1B1A"/>
                </a:solidFill>
                <a:latin typeface="Work Sans"/>
              </a:defRPr>
            </a:pPr>
            <a:r>
              <a:t>•  The toss influences conditions, but execution still explains most match outcomes.</a:t>
            </a:r>
          </a:p>
          <a:p>
            <a:pPr>
              <a:spcAft>
                <a:spcPts val="600"/>
              </a:spcAft>
              <a:defRPr sz="1400">
                <a:solidFill>
                  <a:srgbClr val="1C1B1A"/>
                </a:solidFill>
                <a:latin typeface="Work Sans"/>
              </a:defRPr>
            </a:pPr>
            <a:r>
              <a:t>•  This is a strong myth-busting insight for the judges because it pushes beyond fan opinion.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Small edge, not destiny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AD5CC"/>
                </a:solidFill>
                <a:latin typeface="Work San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Question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B1A"/>
                </a:solidFill>
                <a:latin typeface="Fraunces"/>
              </a:defRPr>
            </a:pPr>
            <a:r>
              <a:t>Which innings phase shapes victory the most?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C1B1A"/>
                </a:solidFill>
                <a:latin typeface="Work Sans"/>
              </a:defRPr>
            </a:pPr>
            <a:r>
              <a:t>Death overs</a:t>
            </a:r>
          </a:p>
          <a:p>
            <a:pPr>
              <a:defRPr sz="1100">
                <a:solidFill>
                  <a:srgbClr val="545453"/>
                </a:solidFill>
                <a:latin typeface="Work Sans"/>
              </a:defRPr>
            </a:pPr>
            <a:r>
              <a:t>Strongest relationship with winning. Finishing power and late control separate winners most clearly.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C1B1A"/>
                </a:solidFill>
                <a:latin typeface="Work Sans"/>
              </a:defRPr>
            </a:pPr>
            <a:r>
              <a:t>Middle overs</a:t>
            </a:r>
          </a:p>
          <a:p>
            <a:pPr>
              <a:defRPr sz="1100">
                <a:solidFill>
                  <a:srgbClr val="545453"/>
                </a:solidFill>
                <a:latin typeface="Work Sans"/>
              </a:defRPr>
            </a:pPr>
            <a:r>
              <a:t>Second most important. This phase often decides whether a team builds momentum or leaks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7796" y="1554480"/>
            <a:ext cx="333237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C1B1A"/>
                </a:solidFill>
                <a:latin typeface="Work Sans"/>
              </a:defRPr>
            </a:pPr>
            <a:r>
              <a:t>Powerplay</a:t>
            </a:r>
          </a:p>
          <a:p>
            <a:pPr>
              <a:defRPr sz="1100">
                <a:solidFill>
                  <a:srgbClr val="545453"/>
                </a:solidFill>
                <a:latin typeface="Work Sans"/>
              </a:defRPr>
            </a:pPr>
            <a:r>
              <a:t>Still matters, but less than the later stages when win probability swings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Death overs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AD5CC"/>
                </a:solidFill>
                <a:latin typeface="Work San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Question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B1A"/>
                </a:solidFill>
                <a:latin typeface="Fraunces"/>
              </a:defRPr>
            </a:pPr>
            <a:r>
              <a:t>Who stands out across seasons?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C1B1A"/>
                </a:solidFill>
                <a:latin typeface="Work Sans"/>
              </a:defRPr>
            </a:pPr>
            <a:r>
              <a:t>Top batter</a:t>
            </a:r>
          </a:p>
          <a:p>
            <a:pPr>
              <a:defRPr sz="1100">
                <a:solidFill>
                  <a:srgbClr val="545453"/>
                </a:solidFill>
                <a:latin typeface="Work Sans"/>
              </a:defRPr>
            </a:pPr>
            <a:r>
              <a:t>Virat Kohli leads the full dataset with 9,155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C1B1A"/>
                </a:solidFill>
                <a:latin typeface="Work Sans"/>
              </a:defRPr>
            </a:pPr>
            <a:r>
              <a:t>Top bowler</a:t>
            </a:r>
          </a:p>
          <a:p>
            <a:pPr>
              <a:defRPr sz="1100">
                <a:solidFill>
                  <a:srgbClr val="545453"/>
                </a:solidFill>
                <a:latin typeface="Work Sans"/>
              </a:defRPr>
            </a:pPr>
            <a:r>
              <a:t>Yuzvendra Chahal leads with 238 wickets.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C1B1A"/>
                </a:solidFill>
                <a:latin typeface="Work Sans"/>
              </a:defRPr>
            </a:pPr>
            <a:r>
              <a:t>Elite consistency</a:t>
            </a:r>
          </a:p>
          <a:p>
            <a:pPr>
              <a:defRPr sz="1100">
                <a:solidFill>
                  <a:srgbClr val="545453"/>
                </a:solidFill>
                <a:latin typeface="Work Sans"/>
              </a:defRPr>
            </a:pPr>
            <a:r>
              <a:t>High-volume performers keep appearing because longevity and repeatability matter as much as peaks.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834640"/>
            <a:ext cx="5181447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91440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1C1B1A"/>
                </a:solidFill>
                <a:latin typeface="Work Sans"/>
              </a:defRPr>
            </a:pPr>
            <a:r>
              <a:t>Team strength</a:t>
            </a:r>
          </a:p>
          <a:p>
            <a:pPr>
              <a:defRPr sz="1100">
                <a:solidFill>
                  <a:srgbClr val="545453"/>
                </a:solidFill>
                <a:latin typeface="Work Sans"/>
              </a:defRPr>
            </a:pPr>
            <a:r>
              <a:t>Among long-running teams, Chennai and Mumbai stay near the top, while newer franchises can spike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Greatness is repeatable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Surprise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C1B1A"/>
                </a:solidFill>
                <a:latin typeface="Fraunces"/>
              </a:defRPr>
            </a:pPr>
            <a:r>
              <a:t>The most surprising result was how little the toss explained match results compared with batting tempo in the death overs.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Work Sans"/>
              </a:defRPr>
            </a:pPr>
            <a:r>
              <a:t>This is the strongest storytelling hook in the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B483"/>
                </a:solidFill>
                <a:latin typeface="Work Sans"/>
              </a:defRPr>
            </a:pPr>
            <a:r>
              <a:t>Myth-busting  ·  Actionable  ·  Memorable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Best narrative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F1D35"/>
                </a:solidFill>
                <a:latin typeface="Work Sans"/>
              </a:defRPr>
            </a:pPr>
            <a:r>
              <a:t>Submission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B1A"/>
                </a:solidFill>
                <a:latin typeface="Fraunces"/>
              </a:defRPr>
            </a:pPr>
            <a:r>
              <a:t>What makes this competition-ready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1B1A"/>
                </a:solidFill>
                <a:latin typeface="Work Sans"/>
              </a:defRPr>
            </a:pPr>
            <a:r>
              <a:t>•  It answers the prompt directly with evidence, not opinion.</a:t>
            </a:r>
          </a:p>
          <a:p>
            <a:pPr>
              <a:spcAft>
                <a:spcPts val="600"/>
              </a:spcAft>
              <a:defRPr sz="1400">
                <a:solidFill>
                  <a:srgbClr val="1C1B1A"/>
                </a:solidFill>
                <a:latin typeface="Work Sans"/>
              </a:defRPr>
            </a:pPr>
            <a:r>
              <a:t>•  It combines ball-by-ball processing, aggregation, and cricket logic.</a:t>
            </a:r>
          </a:p>
          <a:p>
            <a:pPr>
              <a:spcAft>
                <a:spcPts val="600"/>
              </a:spcAft>
              <a:defRPr sz="1400">
                <a:solidFill>
                  <a:srgbClr val="1C1B1A"/>
                </a:solidFill>
                <a:latin typeface="Work Sans"/>
              </a:defRPr>
            </a:pPr>
            <a:r>
              <a:t>•  It includes a clean narrative judges can follow quickly.</a:t>
            </a:r>
          </a:p>
          <a:p>
            <a:pPr>
              <a:spcAft>
                <a:spcPts val="600"/>
              </a:spcAft>
              <a:defRPr sz="1400">
                <a:solidFill>
                  <a:srgbClr val="1C1B1A"/>
                </a:solidFill>
                <a:latin typeface="Work Sans"/>
              </a:defRPr>
            </a:pPr>
            <a:r>
              <a:t>•  It leaves room to add richer charts on venues, chasing, and player phases if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Ready to polish and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Work Sans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BF134-5571-45AB-AC84-9AF11636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418" y="320600"/>
            <a:ext cx="8083312" cy="442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463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31D3B0-BD3F-484A-9284-C4381260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18" y="502766"/>
            <a:ext cx="6254508" cy="351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08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FE4883-0A25-41E2-B7BD-8227DCBBD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355" y="631498"/>
            <a:ext cx="8083997" cy="44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64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14CAD5-C206-41A3-8072-313C6197F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71" y="749373"/>
            <a:ext cx="7169517" cy="35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6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8</TotalTime>
  <Words>350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Fraunces</vt:lpstr>
      <vt:lpstr>Impact</vt:lpstr>
      <vt:lpstr>Work Sans</vt:lpstr>
      <vt:lpstr>Main Event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sharanya mr</cp:lastModifiedBy>
  <cp:revision>2</cp:revision>
  <dcterms:created xsi:type="dcterms:W3CDTF">2013-01-27T09:14:16Z</dcterms:created>
  <dcterms:modified xsi:type="dcterms:W3CDTF">2026-05-17T08:24:40Z</dcterms:modified>
  <cp:category/>
</cp:coreProperties>
</file>